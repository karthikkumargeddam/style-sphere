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AAF01-7E37-40A5-ABF0-187207177361}" v="1210" dt="2025-07-29T00:43:01.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6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inuddin Qureshi" userId="d0e8348742041535" providerId="LiveId" clId="{51CAAF01-7E37-40A5-ABF0-187207177361}"/>
    <pc:docChg chg="custSel addSld modSld">
      <pc:chgData name="Moinuddin Qureshi" userId="d0e8348742041535" providerId="LiveId" clId="{51CAAF01-7E37-40A5-ABF0-187207177361}" dt="2025-07-29T00:49:57.021" v="1855" actId="20577"/>
      <pc:docMkLst>
        <pc:docMk/>
      </pc:docMkLst>
      <pc:sldChg chg="modSp mod">
        <pc:chgData name="Moinuddin Qureshi" userId="d0e8348742041535" providerId="LiveId" clId="{51CAAF01-7E37-40A5-ABF0-187207177361}" dt="2025-07-29T00:49:57.021" v="1855" actId="20577"/>
        <pc:sldMkLst>
          <pc:docMk/>
          <pc:sldMk cId="2597822127" sldId="259"/>
        </pc:sldMkLst>
        <pc:spChg chg="mod">
          <ac:chgData name="Moinuddin Qureshi" userId="d0e8348742041535" providerId="LiveId" clId="{51CAAF01-7E37-40A5-ABF0-187207177361}" dt="2025-07-29T00:49:57.021" v="1855" actId="20577"/>
          <ac:spMkLst>
            <pc:docMk/>
            <pc:sldMk cId="2597822127" sldId="259"/>
            <ac:spMk id="4" creationId="{C6E6D0A4-7CF5-2619-ABCA-ECFC5C2F7A53}"/>
          </ac:spMkLst>
        </pc:spChg>
      </pc:sldChg>
      <pc:sldChg chg="addSp modSp mod">
        <pc:chgData name="Moinuddin Qureshi" userId="d0e8348742041535" providerId="LiveId" clId="{51CAAF01-7E37-40A5-ABF0-187207177361}" dt="2025-07-29T00:45:20.641" v="1782" actId="20577"/>
        <pc:sldMkLst>
          <pc:docMk/>
          <pc:sldMk cId="3597277841" sldId="267"/>
        </pc:sldMkLst>
        <pc:spChg chg="add mod">
          <ac:chgData name="Moinuddin Qureshi" userId="d0e8348742041535" providerId="LiveId" clId="{51CAAF01-7E37-40A5-ABF0-187207177361}" dt="2025-07-29T00:42:33.560" v="1614" actId="20577"/>
          <ac:spMkLst>
            <pc:docMk/>
            <pc:sldMk cId="3597277841" sldId="267"/>
            <ac:spMk id="3" creationId="{EC6CF082-A7A3-04B4-4DBA-2BEC83D5C192}"/>
          </ac:spMkLst>
        </pc:spChg>
        <pc:spChg chg="add mod">
          <ac:chgData name="Moinuddin Qureshi" userId="d0e8348742041535" providerId="LiveId" clId="{51CAAF01-7E37-40A5-ABF0-187207177361}" dt="2025-07-29T00:18:06.516" v="1190" actId="20577"/>
          <ac:spMkLst>
            <pc:docMk/>
            <pc:sldMk cId="3597277841" sldId="267"/>
            <ac:spMk id="4" creationId="{4602684D-2D07-08BC-F793-E20CB713EBB9}"/>
          </ac:spMkLst>
        </pc:spChg>
        <pc:spChg chg="mod">
          <ac:chgData name="Moinuddin Qureshi" userId="d0e8348742041535" providerId="LiveId" clId="{51CAAF01-7E37-40A5-ABF0-187207177361}" dt="2025-07-29T00:11:43.474" v="377" actId="1076"/>
          <ac:spMkLst>
            <pc:docMk/>
            <pc:sldMk cId="3597277841" sldId="267"/>
            <ac:spMk id="5" creationId="{21AEC733-2052-44FB-5D9C-7B0362BCDD9F}"/>
          </ac:spMkLst>
        </pc:spChg>
        <pc:spChg chg="add mod">
          <ac:chgData name="Moinuddin Qureshi" userId="d0e8348742041535" providerId="LiveId" clId="{51CAAF01-7E37-40A5-ABF0-187207177361}" dt="2025-07-29T00:45:20.641" v="1782" actId="20577"/>
          <ac:spMkLst>
            <pc:docMk/>
            <pc:sldMk cId="3597277841" sldId="267"/>
            <ac:spMk id="6" creationId="{91CD173F-4DDD-8044-8223-ACB077AD202E}"/>
          </ac:spMkLst>
        </pc:spChg>
        <pc:spChg chg="mod">
          <ac:chgData name="Moinuddin Qureshi" userId="d0e8348742041535" providerId="LiveId" clId="{51CAAF01-7E37-40A5-ABF0-187207177361}" dt="2025-07-29T00:11:43.474" v="377" actId="1076"/>
          <ac:spMkLst>
            <pc:docMk/>
            <pc:sldMk cId="3597277841" sldId="267"/>
            <ac:spMk id="7" creationId="{83C508F1-750C-4ACB-1C91-F84525493189}"/>
          </ac:spMkLst>
        </pc:spChg>
        <pc:spChg chg="mod">
          <ac:chgData name="Moinuddin Qureshi" userId="d0e8348742041535" providerId="LiveId" clId="{51CAAF01-7E37-40A5-ABF0-187207177361}" dt="2025-07-29T00:44:29.137" v="1751" actId="1076"/>
          <ac:spMkLst>
            <pc:docMk/>
            <pc:sldMk cId="3597277841" sldId="267"/>
            <ac:spMk id="9" creationId="{C938D69B-B135-2360-68B9-1B70AB07EC1C}"/>
          </ac:spMkLst>
        </pc:spChg>
      </pc:sldChg>
      <pc:sldChg chg="addSp delSp modSp new mod">
        <pc:chgData name="Moinuddin Qureshi" userId="d0e8348742041535" providerId="LiveId" clId="{51CAAF01-7E37-40A5-ABF0-187207177361}" dt="2025-07-29T00:41:30.010" v="1612" actId="20577"/>
        <pc:sldMkLst>
          <pc:docMk/>
          <pc:sldMk cId="1428891775" sldId="268"/>
        </pc:sldMkLst>
        <pc:spChg chg="del">
          <ac:chgData name="Moinuddin Qureshi" userId="d0e8348742041535" providerId="LiveId" clId="{51CAAF01-7E37-40A5-ABF0-187207177361}" dt="2025-07-28T23:48:50.680" v="1" actId="478"/>
          <ac:spMkLst>
            <pc:docMk/>
            <pc:sldMk cId="1428891775" sldId="268"/>
            <ac:spMk id="2" creationId="{7F85FA38-07A6-6BE2-BBA7-7850FB5F6137}"/>
          </ac:spMkLst>
        </pc:spChg>
        <pc:spChg chg="del">
          <ac:chgData name="Moinuddin Qureshi" userId="d0e8348742041535" providerId="LiveId" clId="{51CAAF01-7E37-40A5-ABF0-187207177361}" dt="2025-07-28T23:48:52.629" v="2" actId="478"/>
          <ac:spMkLst>
            <pc:docMk/>
            <pc:sldMk cId="1428891775" sldId="268"/>
            <ac:spMk id="3" creationId="{C4088E4A-1969-D36B-9019-D9FD87C9326B}"/>
          </ac:spMkLst>
        </pc:spChg>
        <pc:spChg chg="add del mod">
          <ac:chgData name="Moinuddin Qureshi" userId="d0e8348742041535" providerId="LiveId" clId="{51CAAF01-7E37-40A5-ABF0-187207177361}" dt="2025-07-28T23:50:59.178" v="28" actId="478"/>
          <ac:spMkLst>
            <pc:docMk/>
            <pc:sldMk cId="1428891775" sldId="268"/>
            <ac:spMk id="4" creationId="{AEF724BB-C5F8-80E9-D82B-73A7A1BEB58C}"/>
          </ac:spMkLst>
        </pc:spChg>
        <pc:spChg chg="add mod ord">
          <ac:chgData name="Moinuddin Qureshi" userId="d0e8348742041535" providerId="LiveId" clId="{51CAAF01-7E37-40A5-ABF0-187207177361}" dt="2025-07-28T23:52:19.903" v="43" actId="14100"/>
          <ac:spMkLst>
            <pc:docMk/>
            <pc:sldMk cId="1428891775" sldId="268"/>
            <ac:spMk id="5" creationId="{86E13CF8-ED63-DB41-AC9D-EFD6AB7179B8}"/>
          </ac:spMkLst>
        </pc:spChg>
        <pc:spChg chg="add mod">
          <ac:chgData name="Moinuddin Qureshi" userId="d0e8348742041535" providerId="LiveId" clId="{51CAAF01-7E37-40A5-ABF0-187207177361}" dt="2025-07-28T23:52:28.265" v="44" actId="1076"/>
          <ac:spMkLst>
            <pc:docMk/>
            <pc:sldMk cId="1428891775" sldId="268"/>
            <ac:spMk id="6" creationId="{6DAAD9AC-B48C-8108-6C20-D4C30C7A18C2}"/>
          </ac:spMkLst>
        </pc:spChg>
        <pc:spChg chg="add mod">
          <ac:chgData name="Moinuddin Qureshi" userId="d0e8348742041535" providerId="LiveId" clId="{51CAAF01-7E37-40A5-ABF0-187207177361}" dt="2025-07-29T00:41:30.010" v="1612" actId="20577"/>
          <ac:spMkLst>
            <pc:docMk/>
            <pc:sldMk cId="1428891775" sldId="268"/>
            <ac:spMk id="9" creationId="{D2B70B2B-EA2B-8DB8-BA14-0E96678AFD26}"/>
          </ac:spMkLst>
        </pc:spChg>
        <pc:picChg chg="add mod">
          <ac:chgData name="Moinuddin Qureshi" userId="d0e8348742041535" providerId="LiveId" clId="{51CAAF01-7E37-40A5-ABF0-187207177361}" dt="2025-07-28T23:52:41.450" v="47" actId="1076"/>
          <ac:picMkLst>
            <pc:docMk/>
            <pc:sldMk cId="1428891775" sldId="268"/>
            <ac:picMk id="8" creationId="{CF4DC80A-CACF-7F0C-D2FE-AC75FC7EE48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BA07-719D-8A8A-5F82-5433DA92C6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E136F2F-8AA1-F596-3B5B-57E2BEFE5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BFE87BC-47F0-0E41-9BEE-B2BEF59B4F5C}"/>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D03229A4-26D2-8BAC-C11E-73537D32BC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A19E5D-9771-9D7A-ED32-E7160E7A49FF}"/>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2304337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3AD0-533B-71BC-9F91-E90306A6EF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61450DF-882F-EAFA-D1B6-E89235AD57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2CE403-A2E9-3D5E-CDFC-61E2A8CF06DF}"/>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DD698AFE-187D-375F-8582-D87021470E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D3E2C0-B24B-C4FE-AF74-CA00F2E64E4A}"/>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173494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5019-F5F7-2C84-D527-99E8E94BCE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39F774-E5A9-07A5-17E2-2942E628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CA6C16-EE29-652F-0160-F4B4BD188E81}"/>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84E1565A-14D2-B46C-A408-4E33A97E31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BD44EB-2E25-1A32-1AF6-02FAB7083417}"/>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3033075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DD1FD-7F25-47FF-A8CE-05FD854433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2E10F2-DE73-C9FE-DD51-521E617DEF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9809258-DD6F-657C-00C7-F8A8AB7F0B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5D74B5F-9190-8972-159E-6E4C02440463}"/>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6" name="Footer Placeholder 5">
            <a:extLst>
              <a:ext uri="{FF2B5EF4-FFF2-40B4-BE49-F238E27FC236}">
                <a16:creationId xmlns:a16="http://schemas.microsoft.com/office/drawing/2014/main" id="{492B0EDC-561B-3C16-7DA0-347BAFAE09D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B84C2D0-2044-CE98-F60C-E74F677C0B72}"/>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3375120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3B8C2-7FCB-3191-A256-F44FDB2AB21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50C07DB-F1A6-29FF-3063-78AB8BD24F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A52FAA-E267-D007-2CC3-9A03D525E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52101F0-A080-6E85-417C-FE4B5E51C9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DD67E2-6C78-3F35-650F-A86538DC94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80BF5C7-284D-0C86-C00F-C84DC6FBCCBC}"/>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8" name="Footer Placeholder 7">
            <a:extLst>
              <a:ext uri="{FF2B5EF4-FFF2-40B4-BE49-F238E27FC236}">
                <a16:creationId xmlns:a16="http://schemas.microsoft.com/office/drawing/2014/main" id="{3B28C258-F743-79EF-279F-24DFB7C8899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12B299B-B31C-2F37-53B7-88DF75D4B9B9}"/>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4039952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6CA6C-F821-81A6-2ADA-03D33E9A6DA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4BC8102-AE8B-8DF0-9FB2-A4C91A7520C5}"/>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4" name="Footer Placeholder 3">
            <a:extLst>
              <a:ext uri="{FF2B5EF4-FFF2-40B4-BE49-F238E27FC236}">
                <a16:creationId xmlns:a16="http://schemas.microsoft.com/office/drawing/2014/main" id="{29134DC5-5793-131C-C36C-2C91820C464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76CC2D6-D71A-6392-6F82-9F9DDFC00AF6}"/>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50728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1F30CF-B831-B01F-806F-14E4FFEBEE09}"/>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3" name="Footer Placeholder 2">
            <a:extLst>
              <a:ext uri="{FF2B5EF4-FFF2-40B4-BE49-F238E27FC236}">
                <a16:creationId xmlns:a16="http://schemas.microsoft.com/office/drawing/2014/main" id="{514B8B22-71E9-6CBD-5A72-51B6A4186D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AF8C46B-815C-4634-CA5B-987512707B31}"/>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71580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45791-6C21-D7D1-11EE-08C10D9B1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17BD033-7351-237D-5A22-29F282AF5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9B84AC3-B22D-D317-B973-35577409A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BD0A89-8ADD-1017-5078-D08E6B96C997}"/>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6" name="Footer Placeholder 5">
            <a:extLst>
              <a:ext uri="{FF2B5EF4-FFF2-40B4-BE49-F238E27FC236}">
                <a16:creationId xmlns:a16="http://schemas.microsoft.com/office/drawing/2014/main" id="{274F4161-2524-A911-BA02-45918E71B87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0D2107-7EBC-F88D-ECDF-3FE8CF27179B}"/>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1569322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396C-D0F5-CBA2-B35D-A77152F240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505833-5ECD-E0EF-A16A-B0CDA16390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C35FFAC-6EA6-136C-D9F0-5521400756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4B6A1-3653-CC4C-C8ED-6DA552D162BC}"/>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6" name="Footer Placeholder 5">
            <a:extLst>
              <a:ext uri="{FF2B5EF4-FFF2-40B4-BE49-F238E27FC236}">
                <a16:creationId xmlns:a16="http://schemas.microsoft.com/office/drawing/2014/main" id="{40ED6CD2-4D5E-9CD8-2A26-A432D8AD05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04E582-752B-2671-607F-E49FAC1CCBEE}"/>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1768940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EED0A-EF6E-6A90-B8C0-4731D67FEBC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794F15-9E90-B610-AD63-88710D1DDF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09F66C-46EA-E67F-1C34-F35E01E3FDA4}"/>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19F3E39B-9F16-37B9-60AB-F171E5D2D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C931FA-6260-AB1C-6DE0-C9B102B83B6D}"/>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3648707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A31E42-A781-A983-36AB-1D36DA3B4F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F8A7574-EC8C-9C1F-E5F7-A69C5F9BA0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CA85B3-56EE-667D-5A5A-97EA9B418927}"/>
              </a:ext>
            </a:extLst>
          </p:cNvPr>
          <p:cNvSpPr>
            <a:spLocks noGrp="1"/>
          </p:cNvSpPr>
          <p:nvPr>
            <p:ph type="dt" sz="half" idx="10"/>
          </p:nvPr>
        </p:nvSpPr>
        <p:spPr/>
        <p:txBody>
          <a:body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42F8193F-58A5-C91D-F6BC-9BC9A7557E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285835-1F98-14D3-622B-340BFD4C8EDD}"/>
              </a:ext>
            </a:extLst>
          </p:cNvPr>
          <p:cNvSpPr>
            <a:spLocks noGrp="1"/>
          </p:cNvSpPr>
          <p:nvPr>
            <p:ph type="sldNum" sz="quarter" idx="12"/>
          </p:nvPr>
        </p:nvSpPr>
        <p:spPr/>
        <p:txBody>
          <a:bodyPr/>
          <a:lstStyle/>
          <a:p>
            <a:fld id="{3CE86A17-B5D4-48FB-89AF-7935703CBAB5}" type="slidenum">
              <a:rPr lang="en-GB" smtClean="0"/>
              <a:t>‹#›</a:t>
            </a:fld>
            <a:endParaRPr lang="en-GB"/>
          </a:p>
        </p:txBody>
      </p:sp>
    </p:spTree>
    <p:extLst>
      <p:ext uri="{BB962C8B-B14F-4D97-AF65-F5344CB8AC3E}">
        <p14:creationId xmlns:p14="http://schemas.microsoft.com/office/powerpoint/2010/main" val="1818370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687AE-FAAA-D53B-3C3F-382BE6BB2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4AD1480-3160-DC88-848C-C586BFAF3D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43B618-8649-17D3-76D5-CBB7A34EB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7EF277-00B8-443C-9DFD-0F3F89A70B51}" type="datetimeFigureOut">
              <a:rPr lang="en-GB" smtClean="0"/>
              <a:t>29/07/2025</a:t>
            </a:fld>
            <a:endParaRPr lang="en-GB"/>
          </a:p>
        </p:txBody>
      </p:sp>
      <p:sp>
        <p:nvSpPr>
          <p:cNvPr id="5" name="Footer Placeholder 4">
            <a:extLst>
              <a:ext uri="{FF2B5EF4-FFF2-40B4-BE49-F238E27FC236}">
                <a16:creationId xmlns:a16="http://schemas.microsoft.com/office/drawing/2014/main" id="{D2704842-D743-01F3-7110-965191A241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16831C8-90AD-EC1E-7C8D-1CCF4D90F4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E86A17-B5D4-48FB-89AF-7935703CBAB5}" type="slidenum">
              <a:rPr lang="en-GB" smtClean="0"/>
              <a:t>‹#›</a:t>
            </a:fld>
            <a:endParaRPr lang="en-GB"/>
          </a:p>
        </p:txBody>
      </p:sp>
    </p:spTree>
    <p:extLst>
      <p:ext uri="{BB962C8B-B14F-4D97-AF65-F5344CB8AC3E}">
        <p14:creationId xmlns:p14="http://schemas.microsoft.com/office/powerpoint/2010/main" val="234914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5B97239-2685-48C8-8104-1D4E4E383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group of polo shirts with orange text&#10;&#10;AI-generated content may be incorrect.">
            <a:extLst>
              <a:ext uri="{FF2B5EF4-FFF2-40B4-BE49-F238E27FC236}">
                <a16:creationId xmlns:a16="http://schemas.microsoft.com/office/drawing/2014/main" id="{CFBB7808-B136-01E6-6195-5904A4592FFF}"/>
              </a:ext>
            </a:extLst>
          </p:cNvPr>
          <p:cNvPicPr>
            <a:picLocks noChangeAspect="1"/>
          </p:cNvPicPr>
          <p:nvPr/>
        </p:nvPicPr>
        <p:blipFill>
          <a:blip r:embed="rId2">
            <a:extLst>
              <a:ext uri="{28A0092B-C50C-407E-A947-70E740481C1C}">
                <a14:useLocalDpi xmlns:a14="http://schemas.microsoft.com/office/drawing/2010/main" val="0"/>
              </a:ext>
            </a:extLst>
          </a:blip>
          <a:srcRect t="18776" r="-2" b="27815"/>
          <a:stretch>
            <a:fillRect/>
          </a:stretch>
        </p:blipFill>
        <p:spPr>
          <a:xfrm>
            <a:off x="0" y="0"/>
            <a:ext cx="6096000" cy="3352575"/>
          </a:xfrm>
          <a:prstGeom prst="rect">
            <a:avLst/>
          </a:prstGeom>
        </p:spPr>
      </p:pic>
      <p:pic>
        <p:nvPicPr>
          <p:cNvPr id="7" name="Picture 6" descr="A screenshot of a bundle of clothing&#10;&#10;AI-generated content may be incorrect.">
            <a:extLst>
              <a:ext uri="{FF2B5EF4-FFF2-40B4-BE49-F238E27FC236}">
                <a16:creationId xmlns:a16="http://schemas.microsoft.com/office/drawing/2014/main" id="{E5C3C5D6-698C-5E0A-FF72-5BA7BAA6B1D7}"/>
              </a:ext>
            </a:extLst>
          </p:cNvPr>
          <p:cNvPicPr>
            <a:picLocks noChangeAspect="1"/>
          </p:cNvPicPr>
          <p:nvPr/>
        </p:nvPicPr>
        <p:blipFill>
          <a:blip r:embed="rId3">
            <a:extLst>
              <a:ext uri="{28A0092B-C50C-407E-A947-70E740481C1C}">
                <a14:useLocalDpi xmlns:a14="http://schemas.microsoft.com/office/drawing/2010/main" val="0"/>
              </a:ext>
            </a:extLst>
          </a:blip>
          <a:srcRect l="726" r="28180" b="1"/>
          <a:stretch>
            <a:fillRect/>
          </a:stretch>
        </p:blipFill>
        <p:spPr>
          <a:xfrm>
            <a:off x="-87085" y="3524289"/>
            <a:ext cx="6183086" cy="3276644"/>
          </a:xfrm>
          <a:prstGeom prst="rect">
            <a:avLst/>
          </a:prstGeom>
        </p:spPr>
      </p:pic>
      <p:pic>
        <p:nvPicPr>
          <p:cNvPr id="9" name="Picture 8" descr="A screenshot of a product&#10;&#10;AI-generated content may be incorrect.">
            <a:extLst>
              <a:ext uri="{FF2B5EF4-FFF2-40B4-BE49-F238E27FC236}">
                <a16:creationId xmlns:a16="http://schemas.microsoft.com/office/drawing/2014/main" id="{1BE5E453-B8B4-2BA5-B0FF-81AF7064C541}"/>
              </a:ext>
            </a:extLst>
          </p:cNvPr>
          <p:cNvPicPr>
            <a:picLocks noChangeAspect="1"/>
          </p:cNvPicPr>
          <p:nvPr/>
        </p:nvPicPr>
        <p:blipFill>
          <a:blip r:embed="rId4">
            <a:extLst>
              <a:ext uri="{28A0092B-C50C-407E-A947-70E740481C1C}">
                <a14:useLocalDpi xmlns:a14="http://schemas.microsoft.com/office/drawing/2010/main" val="0"/>
              </a:ext>
            </a:extLst>
          </a:blip>
          <a:srcRect r="15983" b="-3"/>
          <a:stretch>
            <a:fillRect/>
          </a:stretch>
        </p:blipFill>
        <p:spPr>
          <a:xfrm>
            <a:off x="6096000" y="0"/>
            <a:ext cx="6096000" cy="2900339"/>
          </a:xfrm>
          <a:prstGeom prst="rect">
            <a:avLst/>
          </a:prstGeom>
        </p:spPr>
      </p:pic>
      <p:pic>
        <p:nvPicPr>
          <p:cNvPr id="11" name="Picture 10" descr="A screenshot of a polo shirt&#10;&#10;AI-generated content may be incorrect.">
            <a:extLst>
              <a:ext uri="{FF2B5EF4-FFF2-40B4-BE49-F238E27FC236}">
                <a16:creationId xmlns:a16="http://schemas.microsoft.com/office/drawing/2014/main" id="{A24C8535-B4CC-9E9C-92B5-B34524EAE4D8}"/>
              </a:ext>
            </a:extLst>
          </p:cNvPr>
          <p:cNvPicPr>
            <a:picLocks noChangeAspect="1"/>
          </p:cNvPicPr>
          <p:nvPr/>
        </p:nvPicPr>
        <p:blipFill>
          <a:blip r:embed="rId5">
            <a:extLst>
              <a:ext uri="{28A0092B-C50C-407E-A947-70E740481C1C}">
                <a14:useLocalDpi xmlns:a14="http://schemas.microsoft.com/office/drawing/2010/main" val="0"/>
              </a:ext>
            </a:extLst>
          </a:blip>
          <a:srcRect l="2260" r="4965" b="2"/>
          <a:stretch>
            <a:fillRect/>
          </a:stretch>
        </p:blipFill>
        <p:spPr>
          <a:xfrm>
            <a:off x="6195373" y="3014726"/>
            <a:ext cx="5674892" cy="3786207"/>
          </a:xfrm>
          <a:prstGeom prst="rect">
            <a:avLst/>
          </a:prstGeom>
        </p:spPr>
      </p:pic>
    </p:spTree>
    <p:extLst>
      <p:ext uri="{BB962C8B-B14F-4D97-AF65-F5344CB8AC3E}">
        <p14:creationId xmlns:p14="http://schemas.microsoft.com/office/powerpoint/2010/main" val="2424780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16DF-F55B-7CBD-D0AC-A1C6F889371F}"/>
              </a:ext>
            </a:extLst>
          </p:cNvPr>
          <p:cNvSpPr>
            <a:spLocks noGrp="1"/>
          </p:cNvSpPr>
          <p:nvPr>
            <p:ph type="title"/>
          </p:nvPr>
        </p:nvSpPr>
        <p:spPr>
          <a:xfrm>
            <a:off x="838200" y="1391285"/>
            <a:ext cx="10515600" cy="1325563"/>
          </a:xfrm>
        </p:spPr>
        <p:txBody>
          <a:bodyPr>
            <a:normAutofit/>
          </a:bodyPr>
          <a:lstStyle/>
          <a:p>
            <a:br>
              <a:rPr lang="en-US" dirty="0"/>
            </a:br>
            <a:endParaRPr lang="en-GB" dirty="0"/>
          </a:p>
        </p:txBody>
      </p:sp>
      <p:pic>
        <p:nvPicPr>
          <p:cNvPr id="10" name="Picture 9" descr="A screenshot of a computer&#10;&#10;AI-generated content may be incorrect.">
            <a:extLst>
              <a:ext uri="{FF2B5EF4-FFF2-40B4-BE49-F238E27FC236}">
                <a16:creationId xmlns:a16="http://schemas.microsoft.com/office/drawing/2014/main" id="{62E8B3F2-0EAB-4C9C-E674-4327748EC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467" y="76200"/>
            <a:ext cx="10345153" cy="5575300"/>
          </a:xfrm>
          <a:prstGeom prst="rect">
            <a:avLst/>
          </a:prstGeom>
        </p:spPr>
      </p:pic>
    </p:spTree>
    <p:extLst>
      <p:ext uri="{BB962C8B-B14F-4D97-AF65-F5344CB8AC3E}">
        <p14:creationId xmlns:p14="http://schemas.microsoft.com/office/powerpoint/2010/main" val="335185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4EAEE3EC-BA68-DFB8-A6B5-9770756D7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62942"/>
            <a:ext cx="12573000" cy="399505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2DB568F-5518-2493-E6E6-0B0D5FC56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6314"/>
            <a:ext cx="12279086" cy="3309256"/>
          </a:xfrm>
          <a:prstGeom prst="rect">
            <a:avLst/>
          </a:prstGeom>
        </p:spPr>
      </p:pic>
    </p:spTree>
    <p:extLst>
      <p:ext uri="{BB962C8B-B14F-4D97-AF65-F5344CB8AC3E}">
        <p14:creationId xmlns:p14="http://schemas.microsoft.com/office/powerpoint/2010/main" val="37337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E6D0A4-7CF5-2619-ABCA-ECFC5C2F7A53}"/>
              </a:ext>
            </a:extLst>
          </p:cNvPr>
          <p:cNvSpPr txBox="1"/>
          <p:nvPr/>
        </p:nvSpPr>
        <p:spPr>
          <a:xfrm>
            <a:off x="338667" y="84667"/>
            <a:ext cx="10744200" cy="5078313"/>
          </a:xfrm>
          <a:prstGeom prst="rect">
            <a:avLst/>
          </a:prstGeom>
          <a:noFill/>
        </p:spPr>
        <p:txBody>
          <a:bodyPr wrap="square" rtlCol="0">
            <a:spAutoFit/>
          </a:bodyPr>
          <a:lstStyle/>
          <a:p>
            <a:r>
              <a:rPr lang="en-US" b="1" dirty="0"/>
              <a:t>Screenshot Image on slide 3 shows the following –</a:t>
            </a:r>
          </a:p>
          <a:p>
            <a:endParaRPr lang="en-US" b="1" dirty="0"/>
          </a:p>
          <a:p>
            <a:pPr marL="285750" indent="-285750">
              <a:buFont typeface="Arial" panose="020B0604020202020204" pitchFamily="34" charset="0"/>
              <a:buChar char="•"/>
            </a:pPr>
            <a:r>
              <a:rPr lang="en-US" dirty="0"/>
              <a:t>Format for Logo Application Type (Print or Embroidery)</a:t>
            </a:r>
          </a:p>
          <a:p>
            <a:pPr marL="285750" indent="-285750">
              <a:buFont typeface="Arial" panose="020B0604020202020204" pitchFamily="34" charset="0"/>
              <a:buChar char="•"/>
            </a:pPr>
            <a:r>
              <a:rPr lang="en-US" dirty="0"/>
              <a:t>Once the customer has made the choice there needs to be a drop down for Logo Setup.</a:t>
            </a:r>
          </a:p>
          <a:p>
            <a:pPr marL="285750" indent="-285750">
              <a:buFont typeface="Arial" panose="020B0604020202020204" pitchFamily="34" charset="0"/>
              <a:buChar char="•"/>
            </a:pPr>
            <a:r>
              <a:rPr lang="en-US" dirty="0"/>
              <a:t>If the customer has selected “Print” option in Logo Application type, the following options to show in the dropdown box</a:t>
            </a:r>
          </a:p>
          <a:p>
            <a:pPr marL="742950" lvl="1" indent="-285750">
              <a:buFont typeface="Arial" panose="020B0604020202020204" pitchFamily="34" charset="0"/>
              <a:buChar char="•"/>
            </a:pPr>
            <a:r>
              <a:rPr lang="en-US" dirty="0"/>
              <a:t>Not Required (Plain items Only)</a:t>
            </a:r>
          </a:p>
          <a:p>
            <a:pPr marL="742950" lvl="1" indent="-285750">
              <a:buFont typeface="Arial" panose="020B0604020202020204" pitchFamily="34" charset="0"/>
              <a:buChar char="•"/>
            </a:pPr>
            <a:r>
              <a:rPr lang="en-US" dirty="0"/>
              <a:t>Yes (I have purchased from you before)</a:t>
            </a:r>
          </a:p>
          <a:p>
            <a:pPr marL="742950" lvl="1" indent="-285750">
              <a:buFont typeface="Arial" panose="020B0604020202020204" pitchFamily="34" charset="0"/>
              <a:buChar char="•"/>
            </a:pPr>
            <a:r>
              <a:rPr lang="en-US" dirty="0"/>
              <a:t>Yes (I will provide .PNG, .PDF files)</a:t>
            </a:r>
          </a:p>
          <a:p>
            <a:pPr marL="742950" lvl="1" indent="-285750">
              <a:buFont typeface="Arial" panose="020B0604020202020204" pitchFamily="34" charset="0"/>
              <a:buChar char="•"/>
            </a:pPr>
            <a:r>
              <a:rPr lang="en-US" dirty="0"/>
              <a:t>Free Setup (Yes Please)</a:t>
            </a:r>
          </a:p>
          <a:p>
            <a:pPr marL="285750" indent="-285750">
              <a:buFont typeface="Arial" panose="020B0604020202020204" pitchFamily="34" charset="0"/>
              <a:buChar char="•"/>
            </a:pPr>
            <a:r>
              <a:rPr lang="en-GB" dirty="0"/>
              <a:t>If the customer has selected “Embroidery” as an option in Logo Application type, the following options to show in the dropdown box –</a:t>
            </a:r>
          </a:p>
          <a:p>
            <a:pPr marL="742950" lvl="1" indent="-285750">
              <a:buFont typeface="Arial" panose="020B0604020202020204" pitchFamily="34" charset="0"/>
              <a:buChar char="•"/>
            </a:pPr>
            <a:r>
              <a:rPr lang="en-GB" dirty="0"/>
              <a:t>Not Required – (Plain item/s only)  </a:t>
            </a:r>
          </a:p>
          <a:p>
            <a:pPr marL="742950" lvl="1" indent="-285750">
              <a:buFont typeface="Arial" panose="020B0604020202020204" pitchFamily="34" charset="0"/>
              <a:buChar char="•"/>
            </a:pPr>
            <a:r>
              <a:rPr lang="en-GB" dirty="0"/>
              <a:t>Not Required – (I have purchased from you before)</a:t>
            </a:r>
          </a:p>
          <a:p>
            <a:pPr marL="742950" lvl="1" indent="-285750">
              <a:buFont typeface="Arial" panose="020B0604020202020204" pitchFamily="34" charset="0"/>
              <a:buChar char="•"/>
            </a:pPr>
            <a:r>
              <a:rPr lang="en-GB" dirty="0"/>
              <a:t>Not Required – (I will provide .DST or .EMB  file)  </a:t>
            </a:r>
          </a:p>
          <a:p>
            <a:pPr marL="742950" lvl="1" indent="-285750">
              <a:buFont typeface="Arial" panose="020B0604020202020204" pitchFamily="34" charset="0"/>
              <a:buChar char="•"/>
            </a:pPr>
            <a:r>
              <a:rPr lang="en-GB"/>
              <a:t>Yes : 1–10 </a:t>
            </a:r>
            <a:r>
              <a:rPr lang="en-GB" dirty="0"/>
              <a:t>items (Lifetime setup fee £15)  </a:t>
            </a:r>
          </a:p>
          <a:p>
            <a:pPr marL="742950" lvl="1" indent="-285750">
              <a:buFont typeface="Arial" panose="020B0604020202020204" pitchFamily="34" charset="0"/>
              <a:buChar char="•"/>
            </a:pPr>
            <a:r>
              <a:rPr lang="en-GB" dirty="0"/>
              <a:t>Yes – 10+ items (Free lifetime setup)</a:t>
            </a:r>
          </a:p>
          <a:p>
            <a:pPr marL="742950" lvl="1" indent="-285750">
              <a:buFont typeface="Arial" panose="020B0604020202020204" pitchFamily="34" charset="0"/>
              <a:buChar char="•"/>
            </a:pPr>
            <a:endParaRPr lang="en-GB" dirty="0"/>
          </a:p>
        </p:txBody>
      </p:sp>
    </p:spTree>
    <p:extLst>
      <p:ext uri="{BB962C8B-B14F-4D97-AF65-F5344CB8AC3E}">
        <p14:creationId xmlns:p14="http://schemas.microsoft.com/office/powerpoint/2010/main" val="2597822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340046-8381-8397-F57D-D0376F898469}"/>
              </a:ext>
            </a:extLst>
          </p:cNvPr>
          <p:cNvPicPr>
            <a:picLocks noChangeAspect="1"/>
          </p:cNvPicPr>
          <p:nvPr/>
        </p:nvPicPr>
        <p:blipFill>
          <a:blip r:embed="rId2"/>
          <a:stretch>
            <a:fillRect/>
          </a:stretch>
        </p:blipFill>
        <p:spPr>
          <a:xfrm>
            <a:off x="1202267" y="1990130"/>
            <a:ext cx="4060824" cy="2753101"/>
          </a:xfrm>
          <a:prstGeom prst="rect">
            <a:avLst/>
          </a:prstGeom>
        </p:spPr>
      </p:pic>
      <p:sp>
        <p:nvSpPr>
          <p:cNvPr id="6" name="TextBox 5">
            <a:extLst>
              <a:ext uri="{FF2B5EF4-FFF2-40B4-BE49-F238E27FC236}">
                <a16:creationId xmlns:a16="http://schemas.microsoft.com/office/drawing/2014/main" id="{D74F46B4-F8FB-0348-9D6C-E32794780765}"/>
              </a:ext>
            </a:extLst>
          </p:cNvPr>
          <p:cNvSpPr txBox="1"/>
          <p:nvPr/>
        </p:nvSpPr>
        <p:spPr>
          <a:xfrm>
            <a:off x="1108710" y="177800"/>
            <a:ext cx="9000490" cy="1200329"/>
          </a:xfrm>
          <a:prstGeom prst="rect">
            <a:avLst/>
          </a:prstGeom>
          <a:noFill/>
        </p:spPr>
        <p:txBody>
          <a:bodyPr wrap="square" rtlCol="0">
            <a:spAutoFit/>
          </a:bodyPr>
          <a:lstStyle/>
          <a:p>
            <a:r>
              <a:rPr lang="en-US" dirty="0"/>
              <a:t>The next step we need after Logo Setup question is Logo Position.</a:t>
            </a:r>
          </a:p>
          <a:p>
            <a:endParaRPr lang="en-US" dirty="0"/>
          </a:p>
          <a:p>
            <a:r>
              <a:rPr lang="en-US" dirty="0"/>
              <a:t>We want the Logo Position where the customer can click on the image to chose the logo placement position.  Below image is an example of how we would like this to appear.   </a:t>
            </a:r>
            <a:endParaRPr lang="en-GB" dirty="0"/>
          </a:p>
        </p:txBody>
      </p:sp>
      <p:sp>
        <p:nvSpPr>
          <p:cNvPr id="9" name="TextBox 8">
            <a:extLst>
              <a:ext uri="{FF2B5EF4-FFF2-40B4-BE49-F238E27FC236}">
                <a16:creationId xmlns:a16="http://schemas.microsoft.com/office/drawing/2014/main" id="{A633BF31-1956-25DF-9F7E-DA1F95597EFF}"/>
              </a:ext>
            </a:extLst>
          </p:cNvPr>
          <p:cNvSpPr txBox="1"/>
          <p:nvPr/>
        </p:nvSpPr>
        <p:spPr>
          <a:xfrm>
            <a:off x="1169315" y="4850296"/>
            <a:ext cx="4126727" cy="1169551"/>
          </a:xfrm>
          <a:prstGeom prst="rect">
            <a:avLst/>
          </a:prstGeom>
          <a:noFill/>
        </p:spPr>
        <p:txBody>
          <a:bodyPr wrap="square" rtlCol="0">
            <a:spAutoFit/>
          </a:bodyPr>
          <a:lstStyle/>
          <a:p>
            <a:r>
              <a:rPr lang="en-US" sz="1400" dirty="0"/>
              <a:t>* In Bundles, for the logo placement, Left Chest logo is free of charge.  The rest of options will be chargeable. However, Printing and Embroidery will have different prices.  We will leave with you to see if you can work out.</a:t>
            </a:r>
            <a:endParaRPr lang="en-GB" sz="1400" dirty="0"/>
          </a:p>
        </p:txBody>
      </p:sp>
    </p:spTree>
    <p:extLst>
      <p:ext uri="{BB962C8B-B14F-4D97-AF65-F5344CB8AC3E}">
        <p14:creationId xmlns:p14="http://schemas.microsoft.com/office/powerpoint/2010/main" val="484056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F3C606-E43A-155B-7A9A-21C05DE7E84C}"/>
              </a:ext>
            </a:extLst>
          </p:cNvPr>
          <p:cNvSpPr txBox="1"/>
          <p:nvPr/>
        </p:nvSpPr>
        <p:spPr>
          <a:xfrm>
            <a:off x="626533" y="135467"/>
            <a:ext cx="10828867" cy="923330"/>
          </a:xfrm>
          <a:prstGeom prst="rect">
            <a:avLst/>
          </a:prstGeom>
          <a:noFill/>
        </p:spPr>
        <p:txBody>
          <a:bodyPr wrap="square" rtlCol="0">
            <a:spAutoFit/>
          </a:bodyPr>
          <a:lstStyle/>
          <a:p>
            <a:r>
              <a:rPr lang="en-US" dirty="0"/>
              <a:t>After this we need the Option for “Logo Type” as per the picture below-</a:t>
            </a:r>
          </a:p>
          <a:p>
            <a:endParaRPr lang="en-US" dirty="0"/>
          </a:p>
          <a:p>
            <a:endParaRPr lang="en-GB" dirty="0"/>
          </a:p>
        </p:txBody>
      </p:sp>
      <p:pic>
        <p:nvPicPr>
          <p:cNvPr id="6" name="Picture 5">
            <a:extLst>
              <a:ext uri="{FF2B5EF4-FFF2-40B4-BE49-F238E27FC236}">
                <a16:creationId xmlns:a16="http://schemas.microsoft.com/office/drawing/2014/main" id="{6487295A-B4A6-8E2A-E086-E9E2F615B872}"/>
              </a:ext>
            </a:extLst>
          </p:cNvPr>
          <p:cNvPicPr>
            <a:picLocks noChangeAspect="1"/>
          </p:cNvPicPr>
          <p:nvPr/>
        </p:nvPicPr>
        <p:blipFill>
          <a:blip r:embed="rId2"/>
          <a:stretch>
            <a:fillRect/>
          </a:stretch>
        </p:blipFill>
        <p:spPr>
          <a:xfrm>
            <a:off x="1881716" y="617472"/>
            <a:ext cx="3865398" cy="882650"/>
          </a:xfrm>
          <a:prstGeom prst="rect">
            <a:avLst/>
          </a:prstGeom>
        </p:spPr>
      </p:pic>
    </p:spTree>
    <p:extLst>
      <p:ext uri="{BB962C8B-B14F-4D97-AF65-F5344CB8AC3E}">
        <p14:creationId xmlns:p14="http://schemas.microsoft.com/office/powerpoint/2010/main" val="2275714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3628784-800D-5730-080B-60F6ABBA0654}"/>
              </a:ext>
            </a:extLst>
          </p:cNvPr>
          <p:cNvSpPr txBox="1"/>
          <p:nvPr/>
        </p:nvSpPr>
        <p:spPr>
          <a:xfrm>
            <a:off x="674240" y="889221"/>
            <a:ext cx="10490200" cy="369332"/>
          </a:xfrm>
          <a:prstGeom prst="rect">
            <a:avLst/>
          </a:prstGeom>
          <a:noFill/>
        </p:spPr>
        <p:txBody>
          <a:bodyPr wrap="square" rtlCol="0">
            <a:spAutoFit/>
          </a:bodyPr>
          <a:lstStyle/>
          <a:p>
            <a:r>
              <a:rPr lang="en-US" dirty="0"/>
              <a:t>If the customer chooses “Text Logo” we would like to have the following </a:t>
            </a:r>
            <a:r>
              <a:rPr lang="en-US" dirty="0" err="1"/>
              <a:t>dropbox</a:t>
            </a:r>
            <a:r>
              <a:rPr lang="en-US" dirty="0"/>
              <a:t> to open up.</a:t>
            </a:r>
            <a:endParaRPr lang="en-GB" dirty="0"/>
          </a:p>
        </p:txBody>
      </p:sp>
      <p:pic>
        <p:nvPicPr>
          <p:cNvPr id="9" name="Picture 8">
            <a:extLst>
              <a:ext uri="{FF2B5EF4-FFF2-40B4-BE49-F238E27FC236}">
                <a16:creationId xmlns:a16="http://schemas.microsoft.com/office/drawing/2014/main" id="{DF366F95-7978-3843-13EB-1F30F981DA68}"/>
              </a:ext>
            </a:extLst>
          </p:cNvPr>
          <p:cNvPicPr>
            <a:picLocks noChangeAspect="1"/>
          </p:cNvPicPr>
          <p:nvPr/>
        </p:nvPicPr>
        <p:blipFill>
          <a:blip r:embed="rId2"/>
          <a:stretch>
            <a:fillRect/>
          </a:stretch>
        </p:blipFill>
        <p:spPr>
          <a:xfrm>
            <a:off x="1925558" y="1330546"/>
            <a:ext cx="4218149" cy="3659187"/>
          </a:xfrm>
          <a:prstGeom prst="rect">
            <a:avLst/>
          </a:prstGeom>
        </p:spPr>
      </p:pic>
      <p:sp>
        <p:nvSpPr>
          <p:cNvPr id="10" name="TextBox 9">
            <a:extLst>
              <a:ext uri="{FF2B5EF4-FFF2-40B4-BE49-F238E27FC236}">
                <a16:creationId xmlns:a16="http://schemas.microsoft.com/office/drawing/2014/main" id="{7F10D958-A35D-89D0-A914-07BBC5E8EBE0}"/>
              </a:ext>
            </a:extLst>
          </p:cNvPr>
          <p:cNvSpPr txBox="1"/>
          <p:nvPr/>
        </p:nvSpPr>
        <p:spPr>
          <a:xfrm>
            <a:off x="6202017" y="2144476"/>
            <a:ext cx="8460188" cy="2308324"/>
          </a:xfrm>
          <a:prstGeom prst="rect">
            <a:avLst/>
          </a:prstGeom>
          <a:noFill/>
        </p:spPr>
        <p:txBody>
          <a:bodyPr wrap="square" rtlCol="0">
            <a:spAutoFit/>
          </a:bodyPr>
          <a:lstStyle/>
          <a:p>
            <a:r>
              <a:rPr lang="en-US" dirty="0"/>
              <a:t>In the box we need the options as above picture.</a:t>
            </a:r>
          </a:p>
          <a:p>
            <a:r>
              <a:rPr lang="en-US" dirty="0"/>
              <a:t>For Font Dropdown box we want only 2 options –</a:t>
            </a:r>
          </a:p>
          <a:p>
            <a:pPr marL="285750" indent="-285750">
              <a:buFont typeface="Arial" panose="020B0604020202020204" pitchFamily="34" charset="0"/>
              <a:buChar char="•"/>
            </a:pPr>
            <a:r>
              <a:rPr lang="en-US" dirty="0"/>
              <a:t>Standard</a:t>
            </a:r>
          </a:p>
          <a:p>
            <a:pPr marL="285750" indent="-285750">
              <a:buFont typeface="Arial" panose="020B0604020202020204" pitchFamily="34" charset="0"/>
              <a:buChar char="•"/>
            </a:pPr>
            <a:r>
              <a:rPr lang="en-US" i="1" dirty="0"/>
              <a:t>Italic</a:t>
            </a:r>
          </a:p>
          <a:p>
            <a:pPr marL="285750" indent="-285750">
              <a:buFont typeface="Arial" panose="020B0604020202020204" pitchFamily="34" charset="0"/>
              <a:buChar char="•"/>
            </a:pPr>
            <a:endParaRPr lang="en-US" i="1" dirty="0"/>
          </a:p>
          <a:p>
            <a:r>
              <a:rPr lang="en-US" dirty="0"/>
              <a:t>For </a:t>
            </a:r>
            <a:r>
              <a:rPr lang="en-US" dirty="0" err="1"/>
              <a:t>Colour</a:t>
            </a:r>
            <a:r>
              <a:rPr lang="en-US" dirty="0"/>
              <a:t> Dropdown box we need the following options –</a:t>
            </a:r>
          </a:p>
          <a:p>
            <a:pPr marL="285750" indent="-285750">
              <a:buFont typeface="Arial" panose="020B0604020202020204" pitchFamily="34" charset="0"/>
              <a:buChar char="•"/>
            </a:pPr>
            <a:endParaRPr lang="en-US" dirty="0"/>
          </a:p>
          <a:p>
            <a:endParaRPr lang="en-GB" dirty="0"/>
          </a:p>
        </p:txBody>
      </p:sp>
      <p:pic>
        <p:nvPicPr>
          <p:cNvPr id="5" name="Picture 4">
            <a:extLst>
              <a:ext uri="{FF2B5EF4-FFF2-40B4-BE49-F238E27FC236}">
                <a16:creationId xmlns:a16="http://schemas.microsoft.com/office/drawing/2014/main" id="{5CE17928-BEF5-C398-D06B-33C06EFEE0D6}"/>
              </a:ext>
            </a:extLst>
          </p:cNvPr>
          <p:cNvPicPr>
            <a:picLocks noChangeAspect="1"/>
          </p:cNvPicPr>
          <p:nvPr/>
        </p:nvPicPr>
        <p:blipFill>
          <a:blip r:embed="rId3"/>
          <a:stretch>
            <a:fillRect/>
          </a:stretch>
        </p:blipFill>
        <p:spPr>
          <a:xfrm>
            <a:off x="7187978" y="3943848"/>
            <a:ext cx="1216549" cy="2594738"/>
          </a:xfrm>
          <a:prstGeom prst="rect">
            <a:avLst/>
          </a:prstGeom>
        </p:spPr>
      </p:pic>
      <p:sp>
        <p:nvSpPr>
          <p:cNvPr id="6" name="TextBox 5">
            <a:extLst>
              <a:ext uri="{FF2B5EF4-FFF2-40B4-BE49-F238E27FC236}">
                <a16:creationId xmlns:a16="http://schemas.microsoft.com/office/drawing/2014/main" id="{55060C89-E084-0383-2919-42ADA606B0BB}"/>
              </a:ext>
            </a:extLst>
          </p:cNvPr>
          <p:cNvSpPr txBox="1"/>
          <p:nvPr/>
        </p:nvSpPr>
        <p:spPr>
          <a:xfrm>
            <a:off x="747423" y="230588"/>
            <a:ext cx="8181892" cy="369332"/>
          </a:xfrm>
          <a:prstGeom prst="rect">
            <a:avLst/>
          </a:prstGeom>
          <a:noFill/>
        </p:spPr>
        <p:txBody>
          <a:bodyPr wrap="square" rtlCol="0">
            <a:spAutoFit/>
          </a:bodyPr>
          <a:lstStyle/>
          <a:p>
            <a:r>
              <a:rPr lang="en-US" dirty="0"/>
              <a:t>If the customer chooses “Image/Logo File” , Upload option to show up.</a:t>
            </a:r>
            <a:endParaRPr lang="en-GB" dirty="0"/>
          </a:p>
        </p:txBody>
      </p:sp>
    </p:spTree>
    <p:extLst>
      <p:ext uri="{BB962C8B-B14F-4D97-AF65-F5344CB8AC3E}">
        <p14:creationId xmlns:p14="http://schemas.microsoft.com/office/powerpoint/2010/main" val="28045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7B0899-E9D9-0E19-CBAB-EA1E23ABE8A1}"/>
              </a:ext>
            </a:extLst>
          </p:cNvPr>
          <p:cNvSpPr txBox="1"/>
          <p:nvPr/>
        </p:nvSpPr>
        <p:spPr>
          <a:xfrm>
            <a:off x="477078" y="818984"/>
            <a:ext cx="10122011" cy="1477328"/>
          </a:xfrm>
          <a:prstGeom prst="rect">
            <a:avLst/>
          </a:prstGeom>
          <a:noFill/>
        </p:spPr>
        <p:txBody>
          <a:bodyPr wrap="square" rtlCol="0">
            <a:spAutoFit/>
          </a:bodyPr>
          <a:lstStyle/>
          <a:p>
            <a:r>
              <a:rPr lang="en-US" dirty="0"/>
              <a:t>After this we need the option for “Additional Logo”.</a:t>
            </a:r>
          </a:p>
          <a:p>
            <a:r>
              <a:rPr lang="en-US" dirty="0"/>
              <a:t>If the customer chooses yes, the following dropdown option opens and to upload their Logo if different from the previous one.</a:t>
            </a:r>
          </a:p>
          <a:p>
            <a:endParaRPr lang="en-US" dirty="0"/>
          </a:p>
          <a:p>
            <a:endParaRPr lang="en-GB" dirty="0"/>
          </a:p>
        </p:txBody>
      </p:sp>
      <p:pic>
        <p:nvPicPr>
          <p:cNvPr id="11" name="Picture 10">
            <a:extLst>
              <a:ext uri="{FF2B5EF4-FFF2-40B4-BE49-F238E27FC236}">
                <a16:creationId xmlns:a16="http://schemas.microsoft.com/office/drawing/2014/main" id="{78C96006-01FE-A63B-0262-BAD4799BE4BC}"/>
              </a:ext>
            </a:extLst>
          </p:cNvPr>
          <p:cNvPicPr>
            <a:picLocks noChangeAspect="1"/>
          </p:cNvPicPr>
          <p:nvPr/>
        </p:nvPicPr>
        <p:blipFill>
          <a:blip r:embed="rId2"/>
          <a:stretch>
            <a:fillRect/>
          </a:stretch>
        </p:blipFill>
        <p:spPr>
          <a:xfrm>
            <a:off x="5968779" y="1419148"/>
            <a:ext cx="5242863" cy="3094240"/>
          </a:xfrm>
          <a:prstGeom prst="rect">
            <a:avLst/>
          </a:prstGeom>
        </p:spPr>
      </p:pic>
      <p:pic>
        <p:nvPicPr>
          <p:cNvPr id="13" name="Picture 12">
            <a:extLst>
              <a:ext uri="{FF2B5EF4-FFF2-40B4-BE49-F238E27FC236}">
                <a16:creationId xmlns:a16="http://schemas.microsoft.com/office/drawing/2014/main" id="{30A05958-781F-0185-0FCC-E7E5AD5987AF}"/>
              </a:ext>
            </a:extLst>
          </p:cNvPr>
          <p:cNvPicPr>
            <a:picLocks noChangeAspect="1"/>
          </p:cNvPicPr>
          <p:nvPr/>
        </p:nvPicPr>
        <p:blipFill>
          <a:blip r:embed="rId3"/>
          <a:stretch>
            <a:fillRect/>
          </a:stretch>
        </p:blipFill>
        <p:spPr>
          <a:xfrm>
            <a:off x="477078" y="1922896"/>
            <a:ext cx="5352160" cy="1945709"/>
          </a:xfrm>
          <a:prstGeom prst="rect">
            <a:avLst/>
          </a:prstGeom>
        </p:spPr>
      </p:pic>
    </p:spTree>
    <p:extLst>
      <p:ext uri="{BB962C8B-B14F-4D97-AF65-F5344CB8AC3E}">
        <p14:creationId xmlns:p14="http://schemas.microsoft.com/office/powerpoint/2010/main" val="3819231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A6B2DC-ED8D-7E31-2A1E-EB78FD0F4C60}"/>
              </a:ext>
            </a:extLst>
          </p:cNvPr>
          <p:cNvPicPr>
            <a:picLocks noChangeAspect="1"/>
          </p:cNvPicPr>
          <p:nvPr/>
        </p:nvPicPr>
        <p:blipFill>
          <a:blip r:embed="rId2"/>
          <a:stretch>
            <a:fillRect/>
          </a:stretch>
        </p:blipFill>
        <p:spPr>
          <a:xfrm>
            <a:off x="-351136" y="0"/>
            <a:ext cx="10499416" cy="685800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3B5CAFBA-E4B2-9726-8458-85E0F2579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354" y="1771650"/>
            <a:ext cx="3753303" cy="3314700"/>
          </a:xfrm>
          <a:prstGeom prst="rect">
            <a:avLst/>
          </a:prstGeom>
        </p:spPr>
      </p:pic>
    </p:spTree>
    <p:extLst>
      <p:ext uri="{BB962C8B-B14F-4D97-AF65-F5344CB8AC3E}">
        <p14:creationId xmlns:p14="http://schemas.microsoft.com/office/powerpoint/2010/main" val="392288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BC59-2AFB-F8F2-FE7A-14714C67EECC}"/>
              </a:ext>
            </a:extLst>
          </p:cNvPr>
          <p:cNvSpPr>
            <a:spLocks noGrp="1"/>
          </p:cNvSpPr>
          <p:nvPr>
            <p:ph type="title"/>
          </p:nvPr>
        </p:nvSpPr>
        <p:spPr/>
        <p:txBody>
          <a:bodyPr/>
          <a:lstStyle/>
          <a:p>
            <a:r>
              <a:rPr lang="en-US" dirty="0"/>
              <a:t>This images are for reference on the previous slide. </a:t>
            </a:r>
            <a:endParaRPr lang="en-GB" dirty="0"/>
          </a:p>
        </p:txBody>
      </p:sp>
      <p:pic>
        <p:nvPicPr>
          <p:cNvPr id="4" name="Picture 3" descr="A screenshot of a computer&#10;&#10;AI-generated content may be incorrect.">
            <a:extLst>
              <a:ext uri="{FF2B5EF4-FFF2-40B4-BE49-F238E27FC236}">
                <a16:creationId xmlns:a16="http://schemas.microsoft.com/office/drawing/2014/main" id="{6D09A668-EBB2-412B-7636-5CDEC34BA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02277"/>
            <a:ext cx="5198027" cy="4590597"/>
          </a:xfrm>
          <a:prstGeom prst="rect">
            <a:avLst/>
          </a:prstGeom>
        </p:spPr>
      </p:pic>
      <p:pic>
        <p:nvPicPr>
          <p:cNvPr id="6" name="Picture 5" descr="A screenshot of a website&#10;&#10;AI-generated content may be incorrect.">
            <a:extLst>
              <a:ext uri="{FF2B5EF4-FFF2-40B4-BE49-F238E27FC236}">
                <a16:creationId xmlns:a16="http://schemas.microsoft.com/office/drawing/2014/main" id="{94BFC281-32C6-5B78-6D79-782D8706F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4311" y="3091542"/>
            <a:ext cx="6721464" cy="3026229"/>
          </a:xfrm>
          <a:prstGeom prst="rect">
            <a:avLst/>
          </a:prstGeom>
        </p:spPr>
      </p:pic>
    </p:spTree>
    <p:extLst>
      <p:ext uri="{BB962C8B-B14F-4D97-AF65-F5344CB8AC3E}">
        <p14:creationId xmlns:p14="http://schemas.microsoft.com/office/powerpoint/2010/main" val="3177412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03B2-444C-2F9B-F6D7-E82955ADF625}"/>
              </a:ext>
            </a:extLst>
          </p:cNvPr>
          <p:cNvSpPr>
            <a:spLocks noGrp="1"/>
          </p:cNvSpPr>
          <p:nvPr>
            <p:ph type="title"/>
          </p:nvPr>
        </p:nvSpPr>
        <p:spPr/>
        <p:txBody>
          <a:bodyPr/>
          <a:lstStyle/>
          <a:p>
            <a:endParaRPr lang="en-GB" dirty="0"/>
          </a:p>
        </p:txBody>
      </p:sp>
      <p:pic>
        <p:nvPicPr>
          <p:cNvPr id="5" name="Picture 4">
            <a:extLst>
              <a:ext uri="{FF2B5EF4-FFF2-40B4-BE49-F238E27FC236}">
                <a16:creationId xmlns:a16="http://schemas.microsoft.com/office/drawing/2014/main" id="{3D3E5176-33C8-12A2-767D-05B5F7291272}"/>
              </a:ext>
            </a:extLst>
          </p:cNvPr>
          <p:cNvPicPr>
            <a:picLocks noChangeAspect="1"/>
          </p:cNvPicPr>
          <p:nvPr/>
        </p:nvPicPr>
        <p:blipFill>
          <a:blip r:embed="rId2"/>
          <a:stretch>
            <a:fillRect/>
          </a:stretch>
        </p:blipFill>
        <p:spPr>
          <a:xfrm>
            <a:off x="385762" y="414337"/>
            <a:ext cx="11420475" cy="6029325"/>
          </a:xfrm>
          <a:prstGeom prst="rect">
            <a:avLst/>
          </a:prstGeom>
        </p:spPr>
      </p:pic>
    </p:spTree>
    <p:extLst>
      <p:ext uri="{BB962C8B-B14F-4D97-AF65-F5344CB8AC3E}">
        <p14:creationId xmlns:p14="http://schemas.microsoft.com/office/powerpoint/2010/main" val="2682032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6E13CF8-ED63-DB41-AC9D-EFD6AB7179B8}"/>
              </a:ext>
            </a:extLst>
          </p:cNvPr>
          <p:cNvSpPr/>
          <p:nvPr/>
        </p:nvSpPr>
        <p:spPr>
          <a:xfrm>
            <a:off x="0" y="0"/>
            <a:ext cx="12192000" cy="92333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6DAAD9AC-B48C-8108-6C20-D4C30C7A18C2}"/>
              </a:ext>
            </a:extLst>
          </p:cNvPr>
          <p:cNvSpPr txBox="1"/>
          <p:nvPr/>
        </p:nvSpPr>
        <p:spPr>
          <a:xfrm>
            <a:off x="363254" y="0"/>
            <a:ext cx="4521896" cy="830997"/>
          </a:xfrm>
          <a:prstGeom prst="rect">
            <a:avLst/>
          </a:prstGeom>
          <a:noFill/>
        </p:spPr>
        <p:txBody>
          <a:bodyPr wrap="square" rtlCol="0">
            <a:spAutoFit/>
          </a:bodyPr>
          <a:lstStyle/>
          <a:p>
            <a:r>
              <a:rPr lang="en-GB" sz="4800" dirty="0"/>
              <a:t>CHARGES</a:t>
            </a:r>
          </a:p>
        </p:txBody>
      </p:sp>
      <p:pic>
        <p:nvPicPr>
          <p:cNvPr id="8" name="Picture 7">
            <a:extLst>
              <a:ext uri="{FF2B5EF4-FFF2-40B4-BE49-F238E27FC236}">
                <a16:creationId xmlns:a16="http://schemas.microsoft.com/office/drawing/2014/main" id="{CF4DC80A-CACF-7F0C-D2FE-AC75FC7EE48E}"/>
              </a:ext>
            </a:extLst>
          </p:cNvPr>
          <p:cNvPicPr>
            <a:picLocks noChangeAspect="1"/>
          </p:cNvPicPr>
          <p:nvPr/>
        </p:nvPicPr>
        <p:blipFill>
          <a:blip r:embed="rId2"/>
          <a:stretch>
            <a:fillRect/>
          </a:stretch>
        </p:blipFill>
        <p:spPr>
          <a:xfrm>
            <a:off x="162838" y="1101367"/>
            <a:ext cx="3592032" cy="5522634"/>
          </a:xfrm>
          <a:prstGeom prst="rect">
            <a:avLst/>
          </a:prstGeom>
        </p:spPr>
      </p:pic>
      <p:sp>
        <p:nvSpPr>
          <p:cNvPr id="9" name="TextBox 8">
            <a:extLst>
              <a:ext uri="{FF2B5EF4-FFF2-40B4-BE49-F238E27FC236}">
                <a16:creationId xmlns:a16="http://schemas.microsoft.com/office/drawing/2014/main" id="{D2B70B2B-EA2B-8DB8-BA14-0E96678AFD26}"/>
              </a:ext>
            </a:extLst>
          </p:cNvPr>
          <p:cNvSpPr txBox="1"/>
          <p:nvPr/>
        </p:nvSpPr>
        <p:spPr>
          <a:xfrm>
            <a:off x="3945697" y="1478071"/>
            <a:ext cx="7841294" cy="4524315"/>
          </a:xfrm>
          <a:prstGeom prst="rect">
            <a:avLst/>
          </a:prstGeom>
          <a:noFill/>
        </p:spPr>
        <p:txBody>
          <a:bodyPr wrap="square" rtlCol="0">
            <a:spAutoFit/>
          </a:bodyPr>
          <a:lstStyle/>
          <a:p>
            <a:pPr marL="285750" indent="-285750">
              <a:buFont typeface="Arial" panose="020B0604020202020204" pitchFamily="34" charset="0"/>
              <a:buChar char="•"/>
            </a:pPr>
            <a:r>
              <a:rPr lang="en-GB" sz="2400" dirty="0"/>
              <a:t>SHIPPING CHARGES - £10 (1-2 Business Days)</a:t>
            </a:r>
          </a:p>
          <a:p>
            <a:pPr marL="457200" indent="-457200">
              <a:buFont typeface="Arial" panose="020B0604020202020204" pitchFamily="34" charset="0"/>
              <a:buChar char="•"/>
            </a:pPr>
            <a:r>
              <a:rPr lang="en-GB" sz="2400" dirty="0"/>
              <a:t>Embroidery Charges and Printing charges are different.  Please see the table on the left (charges are per product).</a:t>
            </a:r>
          </a:p>
          <a:p>
            <a:pPr marL="457200" indent="-457200">
              <a:buFont typeface="Arial" panose="020B0604020202020204" pitchFamily="34" charset="0"/>
              <a:buChar char="•"/>
            </a:pPr>
            <a:r>
              <a:rPr lang="en-GB" sz="2400" dirty="0"/>
              <a:t>For Bundles, Left Chest Logo is Free however any other logo placement apart from left chest the charge will be multiplied to the number of items in the bundle (</a:t>
            </a:r>
            <a:r>
              <a:rPr lang="en-GB" sz="2400" dirty="0" err="1"/>
              <a:t>I.e</a:t>
            </a:r>
            <a:r>
              <a:rPr lang="en-GB" sz="2400" dirty="0"/>
              <a:t> the customer selected right sleeve logo instead of left chest for his 3 items bundle the charge will be £15, £5 for each item in the bundle). </a:t>
            </a:r>
          </a:p>
          <a:p>
            <a:pPr marL="457200" indent="-457200">
              <a:buFont typeface="Arial" panose="020B0604020202020204" pitchFamily="34" charset="0"/>
              <a:buChar char="•"/>
            </a:pPr>
            <a:r>
              <a:rPr lang="en-GB" sz="2400" dirty="0"/>
              <a:t>Any additional logo placements, charges apply as per the table on the left  and.</a:t>
            </a:r>
          </a:p>
        </p:txBody>
      </p:sp>
    </p:spTree>
    <p:extLst>
      <p:ext uri="{BB962C8B-B14F-4D97-AF65-F5344CB8AC3E}">
        <p14:creationId xmlns:p14="http://schemas.microsoft.com/office/powerpoint/2010/main" val="1428891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05C7D-507C-DDB0-C3B9-7640AC6C612F}"/>
              </a:ext>
            </a:extLst>
          </p:cNvPr>
          <p:cNvSpPr>
            <a:spLocks noGrp="1"/>
          </p:cNvSpPr>
          <p:nvPr>
            <p:ph type="title"/>
          </p:nvPr>
        </p:nvSpPr>
        <p:spPr/>
        <p:txBody>
          <a:bodyPr/>
          <a:lstStyle/>
          <a:p>
            <a:r>
              <a:rPr lang="en-US" dirty="0"/>
              <a:t>Shops we used as inspiration for our layout if we didn’t explain something properly ;)</a:t>
            </a:r>
            <a:endParaRPr lang="en-GB" dirty="0"/>
          </a:p>
        </p:txBody>
      </p:sp>
      <p:sp>
        <p:nvSpPr>
          <p:cNvPr id="5" name="TextBox 4">
            <a:extLst>
              <a:ext uri="{FF2B5EF4-FFF2-40B4-BE49-F238E27FC236}">
                <a16:creationId xmlns:a16="http://schemas.microsoft.com/office/drawing/2014/main" id="{21AEC733-2052-44FB-5D9C-7B0362BCDD9F}"/>
              </a:ext>
            </a:extLst>
          </p:cNvPr>
          <p:cNvSpPr txBox="1"/>
          <p:nvPr/>
        </p:nvSpPr>
        <p:spPr>
          <a:xfrm>
            <a:off x="857447" y="1690688"/>
            <a:ext cx="6097604" cy="369332"/>
          </a:xfrm>
          <a:prstGeom prst="rect">
            <a:avLst/>
          </a:prstGeom>
          <a:noFill/>
        </p:spPr>
        <p:txBody>
          <a:bodyPr wrap="square">
            <a:spAutoFit/>
          </a:bodyPr>
          <a:lstStyle/>
          <a:p>
            <a:r>
              <a:rPr lang="en-GB" dirty="0"/>
              <a:t>https://penguinuniform.com/spring-bundle-2/</a:t>
            </a:r>
          </a:p>
        </p:txBody>
      </p:sp>
      <p:sp>
        <p:nvSpPr>
          <p:cNvPr id="7" name="TextBox 6">
            <a:extLst>
              <a:ext uri="{FF2B5EF4-FFF2-40B4-BE49-F238E27FC236}">
                <a16:creationId xmlns:a16="http://schemas.microsoft.com/office/drawing/2014/main" id="{83C508F1-750C-4ACB-1C91-F84525493189}"/>
              </a:ext>
            </a:extLst>
          </p:cNvPr>
          <p:cNvSpPr txBox="1"/>
          <p:nvPr/>
        </p:nvSpPr>
        <p:spPr>
          <a:xfrm>
            <a:off x="857447" y="2263393"/>
            <a:ext cx="6097604" cy="646331"/>
          </a:xfrm>
          <a:prstGeom prst="rect">
            <a:avLst/>
          </a:prstGeom>
          <a:noFill/>
        </p:spPr>
        <p:txBody>
          <a:bodyPr wrap="square">
            <a:spAutoFit/>
          </a:bodyPr>
          <a:lstStyle/>
          <a:p>
            <a:r>
              <a:rPr lang="en-GB" dirty="0"/>
              <a:t>https://www.personalisedandprinted.com/sole-trader-starter-bundle/</a:t>
            </a:r>
          </a:p>
        </p:txBody>
      </p:sp>
      <p:sp>
        <p:nvSpPr>
          <p:cNvPr id="9" name="TextBox 8">
            <a:extLst>
              <a:ext uri="{FF2B5EF4-FFF2-40B4-BE49-F238E27FC236}">
                <a16:creationId xmlns:a16="http://schemas.microsoft.com/office/drawing/2014/main" id="{C938D69B-B135-2360-68B9-1B70AB07EC1C}"/>
              </a:ext>
            </a:extLst>
          </p:cNvPr>
          <p:cNvSpPr txBox="1"/>
          <p:nvPr/>
        </p:nvSpPr>
        <p:spPr>
          <a:xfrm>
            <a:off x="838200" y="2914048"/>
            <a:ext cx="6097604" cy="369332"/>
          </a:xfrm>
          <a:prstGeom prst="rect">
            <a:avLst/>
          </a:prstGeom>
          <a:noFill/>
        </p:spPr>
        <p:txBody>
          <a:bodyPr wrap="square">
            <a:spAutoFit/>
          </a:bodyPr>
          <a:lstStyle/>
          <a:p>
            <a:r>
              <a:rPr lang="en-GB" dirty="0"/>
              <a:t>https://craftkingsltd.co.uk/products/summer-bundle-83</a:t>
            </a:r>
          </a:p>
        </p:txBody>
      </p:sp>
      <p:sp>
        <p:nvSpPr>
          <p:cNvPr id="3" name="TextBox 2">
            <a:extLst>
              <a:ext uri="{FF2B5EF4-FFF2-40B4-BE49-F238E27FC236}">
                <a16:creationId xmlns:a16="http://schemas.microsoft.com/office/drawing/2014/main" id="{EC6CF082-A7A3-04B4-4DBA-2BEC83D5C192}"/>
              </a:ext>
            </a:extLst>
          </p:cNvPr>
          <p:cNvSpPr txBox="1"/>
          <p:nvPr/>
        </p:nvSpPr>
        <p:spPr>
          <a:xfrm>
            <a:off x="965200" y="3869267"/>
            <a:ext cx="1591733" cy="369332"/>
          </a:xfrm>
          <a:prstGeom prst="rect">
            <a:avLst/>
          </a:prstGeom>
          <a:noFill/>
        </p:spPr>
        <p:txBody>
          <a:bodyPr wrap="square" rtlCol="0">
            <a:spAutoFit/>
          </a:bodyPr>
          <a:lstStyle/>
          <a:p>
            <a:r>
              <a:rPr lang="en-GB" b="1" dirty="0">
                <a:highlight>
                  <a:srgbClr val="FFFF00"/>
                </a:highlight>
              </a:rPr>
              <a:t>NOTES:</a:t>
            </a:r>
          </a:p>
        </p:txBody>
      </p:sp>
      <p:sp>
        <p:nvSpPr>
          <p:cNvPr id="4" name="TextBox 3">
            <a:extLst>
              <a:ext uri="{FF2B5EF4-FFF2-40B4-BE49-F238E27FC236}">
                <a16:creationId xmlns:a16="http://schemas.microsoft.com/office/drawing/2014/main" id="{4602684D-2D07-08BC-F793-E20CB713EBB9}"/>
              </a:ext>
            </a:extLst>
          </p:cNvPr>
          <p:cNvSpPr txBox="1"/>
          <p:nvPr/>
        </p:nvSpPr>
        <p:spPr>
          <a:xfrm>
            <a:off x="1024467" y="4326467"/>
            <a:ext cx="9838266" cy="1600438"/>
          </a:xfrm>
          <a:prstGeom prst="rect">
            <a:avLst/>
          </a:prstGeom>
          <a:noFill/>
        </p:spPr>
        <p:txBody>
          <a:bodyPr wrap="square" rtlCol="0">
            <a:spAutoFit/>
          </a:bodyPr>
          <a:lstStyle/>
          <a:p>
            <a:pPr marL="285750" indent="-285750">
              <a:buFont typeface="Arial" panose="020B0604020202020204" pitchFamily="34" charset="0"/>
              <a:buChar char="•"/>
            </a:pPr>
            <a:r>
              <a:rPr lang="en-GB" sz="1400" dirty="0"/>
              <a:t>The spreadsheet with products list shows All Item codes, Sizes, Brand, Product type, Colours and Prices as per each item code.</a:t>
            </a:r>
          </a:p>
          <a:p>
            <a:pPr marL="285750" indent="-285750">
              <a:buFont typeface="Arial" panose="020B0604020202020204" pitchFamily="34" charset="0"/>
              <a:buChar char="•"/>
            </a:pPr>
            <a:r>
              <a:rPr lang="en-GB" sz="1400" dirty="0"/>
              <a:t>You will find some item codes repeated.  This is because of differential pricing on the basis of sizes.  You will find this mainly with items having sizes from 3XL upwards or even 2XL upwards.  Please reflect the same differential pricing on the item listings.</a:t>
            </a:r>
          </a:p>
          <a:p>
            <a:pPr marL="285750" indent="-285750">
              <a:buFont typeface="Arial" panose="020B0604020202020204" pitchFamily="34" charset="0"/>
              <a:buChar char="•"/>
            </a:pPr>
            <a:r>
              <a:rPr lang="en-GB" sz="1400" dirty="0"/>
              <a:t>If the pricing is differential due to colour code (White items cheaper than Colour, please use the price for Coloured item for all items including White)</a:t>
            </a:r>
          </a:p>
        </p:txBody>
      </p:sp>
      <p:sp>
        <p:nvSpPr>
          <p:cNvPr id="6" name="TextBox 5">
            <a:extLst>
              <a:ext uri="{FF2B5EF4-FFF2-40B4-BE49-F238E27FC236}">
                <a16:creationId xmlns:a16="http://schemas.microsoft.com/office/drawing/2014/main" id="{91CD173F-4DDD-8044-8223-ACB077AD202E}"/>
              </a:ext>
            </a:extLst>
          </p:cNvPr>
          <p:cNvSpPr txBox="1"/>
          <p:nvPr/>
        </p:nvSpPr>
        <p:spPr>
          <a:xfrm>
            <a:off x="838200" y="3294930"/>
            <a:ext cx="8267302" cy="646331"/>
          </a:xfrm>
          <a:prstGeom prst="rect">
            <a:avLst/>
          </a:prstGeom>
          <a:noFill/>
        </p:spPr>
        <p:txBody>
          <a:bodyPr wrap="square" rtlCol="0">
            <a:spAutoFit/>
          </a:bodyPr>
          <a:lstStyle/>
          <a:p>
            <a:r>
              <a:rPr lang="en-GB" dirty="0">
                <a:solidFill>
                  <a:srgbClr val="FF0000"/>
                </a:solidFill>
              </a:rPr>
              <a:t>For Craft King please do not check the Regatta bundles as the listings are not aligned with the bundle offer and might be misleading. </a:t>
            </a:r>
          </a:p>
        </p:txBody>
      </p:sp>
    </p:spTree>
    <p:extLst>
      <p:ext uri="{BB962C8B-B14F-4D97-AF65-F5344CB8AC3E}">
        <p14:creationId xmlns:p14="http://schemas.microsoft.com/office/powerpoint/2010/main" val="3597277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689</Words>
  <Application>Microsoft Office PowerPoint</Application>
  <PresentationFormat>Widescreen</PresentationFormat>
  <Paragraphs>46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This images are for reference on the previous slide. </vt:lpstr>
      <vt:lpstr>PowerPoint Presentation</vt:lpstr>
      <vt:lpstr>PowerPoint Presentation</vt:lpstr>
      <vt:lpstr>Shops we used as inspiration for our layout if we didn’t explain something properly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Moinuddin Qureshi</dc:creator>
  <cp:lastModifiedBy>Moinuddin Qureshi</cp:lastModifiedBy>
  <cp:revision>1</cp:revision>
  <dcterms:created xsi:type="dcterms:W3CDTF">2025-07-28T00:07:35Z</dcterms:created>
  <dcterms:modified xsi:type="dcterms:W3CDTF">2025-07-29T00:50:02Z</dcterms:modified>
</cp:coreProperties>
</file>